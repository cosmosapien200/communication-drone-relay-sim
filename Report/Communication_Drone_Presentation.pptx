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/>
              <a:t>Success on unseen towns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PPO (ours)</c:v>
                </c:pt>
              </c:strCache>
            </c:strRef>
          </c:tx>
          <c:spPr>
            <a:solidFill>
              <a:srgbClr val="F27F1B"/>
            </a:solidFill>
          </c:spPr>
          <c:cat>
            <c:strRef>
              <c:f>Sheet1!$A$2:$A$5</c:f>
              <c:strCache>
                <c:ptCount val="4"/>
                <c:pt idx="0">
                  <c:v>Level 1</c:v>
                </c:pt>
                <c:pt idx="1">
                  <c:v>Level 2</c:v>
                </c:pt>
                <c:pt idx="2">
                  <c:v>Level 3</c:v>
                </c:pt>
                <c:pt idx="3">
                  <c:v>Level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98</c:v>
                </c:pt>
                <c:pt idx="1">
                  <c:v>98</c:v>
                </c:pt>
                <c:pt idx="2">
                  <c:v>93</c:v>
                </c:pt>
                <c:pt idx="3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Potential field</c:v>
                </c:pt>
              </c:strCache>
            </c:strRef>
          </c:tx>
          <c:spPr>
            <a:solidFill>
              <a:srgbClr val="14213D"/>
            </a:solidFill>
          </c:spPr>
          <c:cat>
            <c:strRef>
              <c:f>Sheet1!$A$2:$A$5</c:f>
              <c:strCache>
                <c:ptCount val="4"/>
                <c:pt idx="0">
                  <c:v>Level 1</c:v>
                </c:pt>
                <c:pt idx="1">
                  <c:v>Level 2</c:v>
                </c:pt>
                <c:pt idx="2">
                  <c:v>Level 3</c:v>
                </c:pt>
                <c:pt idx="3">
                  <c:v>Level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93</c:v>
                </c:pt>
                <c:pt idx="1">
                  <c:v>92</c:v>
                </c:pt>
                <c:pt idx="2">
                  <c:v>78</c:v>
                </c:pt>
                <c:pt idx="3">
                  <c:v>54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Straight line</c:v>
                </c:pt>
              </c:strCache>
            </c:strRef>
          </c:tx>
          <c:spPr>
            <a:solidFill>
              <a:srgbClr val="A6A6A6"/>
            </a:solidFill>
          </c:spPr>
          <c:cat>
            <c:strRef>
              <c:f>Sheet1!$A$2:$A$5</c:f>
              <c:strCache>
                <c:ptCount val="4"/>
                <c:pt idx="0">
                  <c:v>Level 1</c:v>
                </c:pt>
                <c:pt idx="1">
                  <c:v>Level 2</c:v>
                </c:pt>
                <c:pt idx="2">
                  <c:v>Level 3</c:v>
                </c:pt>
                <c:pt idx="3">
                  <c:v>Level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84</c:v>
                </c:pt>
                <c:pt idx="1">
                  <c:v>64</c:v>
                </c:pt>
                <c:pt idx="2">
                  <c:v>39</c:v>
                </c:pt>
                <c:pt idx="3">
                  <c:v>18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F6B7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222B3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/>
              <a:t>Landing success vs gust amplitude (m/s)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PPO landing</c:v>
                </c:pt>
              </c:strCache>
            </c:strRef>
          </c:tx>
          <c:spPr>
            <a:ln w="34925">
              <a:solidFill>
                <a:srgbClr val="F27F1B"/>
              </a:solidFill>
            </a:ln>
          </c:spPr>
          <c:marker>
            <c:spPr>
              <a:solidFill>
                <a:srgbClr val="F27F1B"/>
              </a:solidFill>
              <a:ln>
                <a:solidFill>
                  <a:srgbClr val="F27F1B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1.5</c:v>
                </c:pt>
                <c:pt idx="2">
                  <c:v>3</c:v>
                </c:pt>
                <c:pt idx="3">
                  <c:v>4.5</c:v>
                </c:pt>
                <c:pt idx="4">
                  <c:v>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PID visual servoing</c:v>
                </c:pt>
              </c:strCache>
            </c:strRef>
          </c:tx>
          <c:spPr>
            <a:ln w="34925">
              <a:solidFill>
                <a:srgbClr val="14213D"/>
              </a:solidFill>
            </a:ln>
          </c:spPr>
          <c:marker>
            <c:spPr>
              <a:solidFill>
                <a:srgbClr val="14213D"/>
              </a:solidFill>
              <a:ln>
                <a:solidFill>
                  <a:srgbClr val="14213D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0</c:v>
                </c:pt>
                <c:pt idx="1">
                  <c:v>1.5</c:v>
                </c:pt>
                <c:pt idx="2">
                  <c:v>3</c:v>
                </c:pt>
                <c:pt idx="3">
                  <c:v>4.5</c:v>
                </c:pt>
                <c:pt idx="4">
                  <c:v>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97</c:v>
                </c:pt>
                <c:pt idx="1">
                  <c:v>91</c:v>
                </c:pt>
                <c:pt idx="2">
                  <c:v>76</c:v>
                </c:pt>
                <c:pt idx="3">
                  <c:v>64</c:v>
                </c:pt>
                <c:pt idx="4">
                  <c:v>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10.0"/>
          <c:min val="0.0"/>
        </c:scaling>
        <c:delete val="0"/>
        <c:axPos val="l"/>
        <c:majorGridlines>
          <c:spPr>
            <a:ln>
              <a:solidFill>
                <a:srgbClr val="DDDDDD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F6B7A"/>
                </a:solidFill>
              </a:defRPr>
            </a:pPr>
          </a:p>
        </c:txPr>
        <c:crossAx val="2118791784"/>
        <c:crosses val="autoZero"/>
        <c:majorUnit val="20.0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222B3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/>
              <a:t>Ablations: camp covered (%)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Camp covered</c:v>
                </c:pt>
              </c:strCache>
            </c:strRef>
          </c:tx>
          <c:spPr>
            <a:solidFill>
              <a:srgbClr val="14213D"/>
            </a:solidFill>
          </c:spPr>
          <c:dPt>
            <c:idx val="5"/>
            <c:spPr>
              <a:solidFill>
                <a:srgbClr val="F27F1B"/>
              </a:solidFill>
            </c:spPr>
          </c:dPt>
          <c:cat>
            <c:strRef>
              <c:f>Sheet1!$A$2:$A$7</c:f>
              <c:strCache>
                <c:ptCount val="6"/>
                <c:pt idx="0">
                  <c:v>Nearest spot</c:v>
                </c:pt>
                <c:pt idx="1">
                  <c:v>Scripted navigation</c:v>
                </c:pt>
                <c:pt idx="2">
                  <c:v>Random spot</c:v>
                </c:pt>
                <c:pt idx="3">
                  <c:v>Full quadrotor</c:v>
                </c:pt>
                <c:pt idx="4">
                  <c:v>Scripted landing</c:v>
                </c:pt>
                <c:pt idx="5">
                  <c:v>Full system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9</c:v>
                </c:pt>
                <c:pt idx="2">
                  <c:v>25</c:v>
                </c:pt>
                <c:pt idx="3">
                  <c:v>30</c:v>
                </c:pt>
                <c:pt idx="4">
                  <c:v>42</c:v>
                </c:pt>
                <c:pt idx="5">
                  <c:v>47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0.0"/>
          <c:min val="0.0"/>
        </c:scaling>
        <c:delete val="0"/>
        <c:axPos val="b"/>
        <c:majorGridlines>
          <c:spPr>
            <a:ln>
              <a:solidFill>
                <a:srgbClr val="DDDDDD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5F6B7A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222B3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and the one-line idea: drones that land as Wi-Fi relays to reconnect a disaster camp.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a chain of perching drones beats one hovering drone.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where verification matters; learning where hand-written controllers fail (unknown obstacles, gusts, noisy detections).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grid drives collisions, range sensors and radio; a 3-D textured scene is built from it for the camera.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Trained on Fast, tested on Full: 3–6 points lost per flight; fine-tuning on Full is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Path-progress reward makes detours rewarding. Potential field gets stuck in dead ends (46 % timeouts at level 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Touchdown error 1–5 cm. Gust curriculum 0→4.5 m/s, then fine-tuned with the measured detector noise.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Input | ground truth | prediction | errors. Green landable, red not, blue obstacle.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rule is why relays end up at street corners. Random spot: 25 %, nearest spot: 3 %, our rule: 47 %.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All-or-nothing metric on random towns; the ceiling with perfect vision is 51 %, set by whether a landable spot exists at each corner. Learned navigation is the biggest single contributor (47 % vs 9 %).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to the live demo here: start with Z-route, then Blocked boulevard, then Procedural town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mo_level_topdown.png"/>
          <p:cNvPicPr>
            <a:picLocks noChangeAspect="1"/>
          </p:cNvPicPr>
          <p:nvPr/>
        </p:nvPicPr>
        <p:blipFill>
          <a:blip r:embed="rId2"/>
          <a:srcRect l="7780" r="7780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1005840"/>
            <a:ext cx="5486400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Intelligent Wi-Fi Relay Drone for Autonomous Disaster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11880"/>
            <a:ext cx="54864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1">
                <a:solidFill>
                  <a:srgbClr val="C9D3E3"/>
                </a:solidFill>
                <a:latin typeface="Calibri"/>
              </a:rPr>
              <a:t>A self-deploying chain of relay drones — reinforcement-learned flight, vision-guided landing, developed in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54880"/>
            <a:ext cx="5486400" cy="1188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LOKESHWARAN P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 23BAI1098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ANNAMALAI SRINIVAS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 23BAI1006</a:t>
            </a:r>
          </a:p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YATHARTH TIWARI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  23BAI1401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A6A6A6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Disasters cut communication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27F1B"/>
                </a:solidFill>
                <a:latin typeface="Calibri"/>
              </a:rPr>
              <a:t>▸  </a:t>
            </a:r>
            <a:r>
              <a:rPr b="1" sz="1700">
                <a:solidFill>
                  <a:srgbClr val="222B38"/>
                </a:solidFill>
                <a:latin typeface="Calibri"/>
              </a:rPr>
              <a:t>Blackout: </a:t>
            </a:r>
            <a:r>
              <a:rPr sz="1700">
                <a:solidFill>
                  <a:srgbClr val="222B38"/>
                </a:solidFill>
                <a:latin typeface="Calibri"/>
              </a:rPr>
              <a:t>floods and earthquakes destroy towers, power and fibre; rescue teams lose contact.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7F1B"/>
                </a:solidFill>
                <a:latin typeface="Calibri"/>
              </a:rPr>
              <a:t>▸  </a:t>
            </a:r>
            <a:r>
              <a:rPr b="1" sz="1700">
                <a:solidFill>
                  <a:srgbClr val="222B38"/>
                </a:solidFill>
                <a:latin typeface="Calibri"/>
              </a:rPr>
              <a:t>One drone isn't enough: </a:t>
            </a:r>
            <a:r>
              <a:rPr sz="1700">
                <a:solidFill>
                  <a:srgbClr val="222B38"/>
                </a:solidFill>
                <a:latin typeface="Calibri"/>
              </a:rPr>
              <a:t>15–30 min of hover, and buildings block Wi-Fi around every corner.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7F1B"/>
                </a:solidFill>
                <a:latin typeface="Calibri"/>
              </a:rPr>
              <a:t>▸  </a:t>
            </a:r>
            <a:r>
              <a:rPr b="1" sz="1700">
                <a:solidFill>
                  <a:srgbClr val="222B38"/>
                </a:solidFill>
                <a:latin typeface="Calibri"/>
              </a:rPr>
              <a:t>Our idea: </a:t>
            </a:r>
            <a:r>
              <a:rPr sz="1700">
                <a:solidFill>
                  <a:srgbClr val="222B38"/>
                </a:solidFill>
                <a:latin typeface="Calibri"/>
              </a:rPr>
              <a:t>launch drones one by one; each lands on a safe spot that still hears the previous relay and becomes the next link.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27F1B"/>
                </a:solidFill>
                <a:latin typeface="Calibri"/>
              </a:rPr>
              <a:t>▸  </a:t>
            </a:r>
            <a:r>
              <a:rPr b="1" sz="1700">
                <a:solidFill>
                  <a:srgbClr val="222B38"/>
                </a:solidFill>
                <a:latin typeface="Calibri"/>
              </a:rPr>
              <a:t>Landed relay = long endurance: </a:t>
            </a:r>
            <a:r>
              <a:rPr sz="1700">
                <a:solidFill>
                  <a:srgbClr val="222B38"/>
                </a:solidFill>
                <a:latin typeface="Calibri"/>
              </a:rPr>
              <a:t>it only powers its radio, not its rotors.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349240" cy="44805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100.png"/>
          <p:cNvPicPr>
            <a:picLocks noChangeAspect="1"/>
          </p:cNvPicPr>
          <p:nvPr/>
        </p:nvPicPr>
        <p:blipFill>
          <a:blip r:embed="rId2"/>
          <a:srcRect l="10977" r="10977"/>
          <a:stretch>
            <a:fillRect/>
          </a:stretch>
        </p:blipFill>
        <p:spPr>
          <a:xfrm>
            <a:off x="6446520" y="1508760"/>
            <a:ext cx="507492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46520" y="5257800"/>
            <a:ext cx="50749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F6B7A"/>
                </a:solidFill>
                <a:latin typeface="Calibri"/>
              </a:rPr>
              <a:t>A relay drone landing on a camera-detected safe patch (nadir camera, bottom right).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A6A6A6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Planner decides where; policies fly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A"/>
                </a:solidFill>
                <a:latin typeface="Calibri"/>
              </a:rPr>
              <a:t>Hierarchical autonomy — every step runs at 10 Hz</a:t>
            </a:r>
          </a:p>
        </p:txBody>
      </p:sp>
      <p:pic>
        <p:nvPicPr>
          <p:cNvPr id="5" name="Picture 4" descr="fig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531" y="1463040"/>
            <a:ext cx="9414456" cy="39319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486400"/>
            <a:ext cx="3566160" cy="86868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53212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4213D"/>
                </a:solidFill>
                <a:latin typeface="Calibri"/>
              </a:rPr>
              <a:t>Mission planner  </a:t>
            </a:r>
            <a:r>
              <a:rPr sz="1300" b="0" i="0">
                <a:solidFill>
                  <a:srgbClr val="222B38"/>
                </a:solidFill>
                <a:latin typeface="Calibri"/>
              </a:rPr>
              <a:t>rules: frontier exploration, radio-aware landing spot, shared 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5486400"/>
            <a:ext cx="3566160" cy="86868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553212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27F1B"/>
                </a:solidFill>
                <a:latin typeface="Calibri"/>
              </a:rPr>
              <a:t>Two PPO policies  </a:t>
            </a:r>
            <a:r>
              <a:rPr sz="1300" b="0" i="0">
                <a:solidFill>
                  <a:srgbClr val="222B38"/>
                </a:solidFill>
                <a:latin typeface="Calibri"/>
              </a:rPr>
              <a:t>navigation through unknown streets; landing under gusts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19" y="5486400"/>
            <a:ext cx="3566160" cy="86868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5532120"/>
            <a:ext cx="32918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F8A70"/>
                </a:solidFill>
                <a:latin typeface="Calibri"/>
              </a:rPr>
              <a:t>Machine vision  </a:t>
            </a:r>
            <a:r>
              <a:rPr sz="1300" b="0" i="0">
                <a:solidFill>
                  <a:srgbClr val="222B38"/>
                </a:solidFill>
                <a:latin typeface="Calibri"/>
              </a:rPr>
              <a:t>U-Net segmentation → landable map + landing-spot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A6A6A6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A Unity simulator built entirely from code</a:t>
            </a:r>
          </a:p>
        </p:txBody>
      </p:sp>
      <p:pic>
        <p:nvPicPr>
          <p:cNvPr id="4" name="Picture 3" descr="maps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7498079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66360"/>
            <a:ext cx="7315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Seeded procedural towns, 4 difficulty levels — training on even seeds, every test on unseen odd seeds.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37160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27F1B"/>
                </a:solidFill>
                <a:latin typeface="Cambria"/>
              </a:rPr>
              <a:t>4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2121408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rubble, collapses, scarce landing spots, wind up to 1.5 m/s gusts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83464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27F1B"/>
                </a:solidFill>
                <a:latin typeface="Cambria"/>
              </a:rPr>
              <a:t>−80 dBm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3584448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link threshold; log-distance path loss + 10/7/5 dB per wall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429768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27F1B"/>
                </a:solidFill>
                <a:latin typeface="Cambria"/>
              </a:rPr>
              <a:t>−71 dBm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5047488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needed to land as a relay (≈ 35 m along a clear street)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A6A6A6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Two flight models, one autopilot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A"/>
                </a:solidFill>
                <a:latin typeface="Calibri"/>
              </a:rPr>
              <a:t>Policies send velocity set-points, like a companion computer to PX4</a:t>
            </a:r>
          </a:p>
        </p:txBody>
      </p:sp>
      <p:pic>
        <p:nvPicPr>
          <p:cNvPr id="5" name="Picture 4" descr="fig_cascaded_p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77" y="1463040"/>
            <a:ext cx="9762564" cy="3017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466344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70916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27F1B"/>
                </a:solidFill>
                <a:latin typeface="Cambria"/>
              </a:rPr>
              <a:t>Full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458968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1.2 kg quadrotor, 4 rotors, cascaded PID, 500 Hz —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466344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470916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27F1B"/>
                </a:solidFill>
                <a:latin typeface="Cambria"/>
              </a:rPr>
              <a:t>Fast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5458968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first-order surrogate, 50 Hz — RL training (millions of steps)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66344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70916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27F1B"/>
                </a:solidFill>
                <a:latin typeface="Cambria"/>
              </a:rPr>
              <a:t>0.83 / 0.84 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5458968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settling time full / fast — matched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4663440"/>
            <a:ext cx="2651760" cy="16002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470916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27F1B"/>
                </a:solidFill>
                <a:latin typeface="Cambria"/>
              </a:rPr>
              <a:t>0.38 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5458968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drift in a 3 m/s gust, both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A6A6A6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Navigation PPO: unknown streets, no 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4846320" cy="49377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45720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b="1" sz="1500">
                <a:solidFill>
                  <a:srgbClr val="222B38"/>
                </a:solidFill>
                <a:latin typeface="Calibri"/>
              </a:rPr>
              <a:t>Inputs (33): </a:t>
            </a:r>
            <a:r>
              <a:rPr sz="1500">
                <a:solidFill>
                  <a:srgbClr val="222B38"/>
                </a:solidFill>
                <a:latin typeface="Calibri"/>
              </a:rPr>
              <a:t>24 range rays ≤ 10 m, waypoint distance/bearing, velocity, heading, last action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b="1" sz="1500">
                <a:solidFill>
                  <a:srgbClr val="222B38"/>
                </a:solidFill>
                <a:latin typeface="Calibri"/>
              </a:rPr>
              <a:t>Outputs (3): </a:t>
            </a:r>
            <a:r>
              <a:rPr sz="1500">
                <a:solidFill>
                  <a:srgbClr val="222B38"/>
                </a:solidFill>
                <a:latin typeface="Calibri"/>
              </a:rPr>
              <a:t>forward, sideways speed ≤ 3 m/s, yaw rate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b="1" sz="1500">
                <a:solidFill>
                  <a:srgbClr val="222B38"/>
                </a:solidFill>
                <a:latin typeface="Calibri"/>
              </a:rPr>
              <a:t>Network: </a:t>
            </a:r>
            <a:r>
              <a:rPr sz="1500">
                <a:solidFill>
                  <a:srgbClr val="222B38"/>
                </a:solidFill>
                <a:latin typeface="Calibri"/>
              </a:rPr>
              <a:t>MLP 2 × 256, PPO, γ 0.995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b="1" sz="1500">
                <a:solidFill>
                  <a:srgbClr val="222B38"/>
                </a:solidFill>
                <a:latin typeface="Calibri"/>
              </a:rPr>
              <a:t>Reward: </a:t>
            </a:r>
            <a:r>
              <a:rPr sz="1500">
                <a:solidFill>
                  <a:srgbClr val="222B38"/>
                </a:solidFill>
                <a:latin typeface="Calibri"/>
              </a:rPr>
              <a:t>progress along the street path, −1 crash, +1 arrival, small time/wall/jerk costs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b="1" sz="1500">
                <a:solidFill>
                  <a:srgbClr val="222B38"/>
                </a:solidFill>
                <a:latin typeface="Calibri"/>
              </a:rPr>
              <a:t>Curriculum: </a:t>
            </a:r>
            <a:r>
              <a:rPr sz="1500">
                <a:solidFill>
                  <a:srgbClr val="222B38"/>
                </a:solidFill>
                <a:latin typeface="Calibri"/>
              </a:rPr>
              <a:t>level 1 → 4; 10.75 M steps in ≈ 35 min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669280" y="1280160"/>
          <a:ext cx="60350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A6A6A6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Landing PPO: gusts and noisy detections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280160"/>
          <a:ext cx="60350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766560" y="1280160"/>
            <a:ext cx="4937760" cy="49377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41732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b="1" sz="1500">
                <a:solidFill>
                  <a:srgbClr val="222B38"/>
                </a:solidFill>
                <a:latin typeface="Calibri"/>
              </a:rPr>
              <a:t>Inputs (10): </a:t>
            </a:r>
            <a:r>
              <a:rPr sz="1500">
                <a:solidFill>
                  <a:srgbClr val="222B38"/>
                </a:solidFill>
                <a:latin typeface="Calibri"/>
              </a:rPr>
              <a:t>patch offset, area, confidence, clearance from the U-Net + altitude, velocity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b="1" sz="1500">
                <a:solidFill>
                  <a:srgbClr val="222B38"/>
                </a:solidFill>
                <a:latin typeface="Calibri"/>
              </a:rPr>
              <a:t>Reward: </a:t>
            </a:r>
            <a:r>
              <a:rPr sz="1500">
                <a:solidFill>
                  <a:srgbClr val="222B38"/>
                </a:solidFill>
                <a:latin typeface="Calibri"/>
              </a:rPr>
              <a:t>offset &amp; fast-descent penalties + potential shaping Φ = −0.1(h + 2·offset); +1 soft touchdown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b="1" sz="1500">
                <a:solidFill>
                  <a:srgbClr val="222B38"/>
                </a:solidFill>
                <a:latin typeface="Calibri"/>
              </a:rPr>
              <a:t>Lesson learned: </a:t>
            </a:r>
            <a:r>
              <a:rPr sz="1500">
                <a:solidFill>
                  <a:srgbClr val="222B38"/>
                </a:solidFill>
                <a:latin typeface="Calibri"/>
              </a:rPr>
              <a:t>v1 hovered forever (timeout was cheaper than failing) → fixed in v2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b="1" sz="1500">
                <a:solidFill>
                  <a:srgbClr val="222B38"/>
                </a:solidFill>
                <a:latin typeface="Calibri"/>
              </a:rPr>
              <a:t>Robust: </a:t>
            </a:r>
            <a:r>
              <a:rPr sz="1500">
                <a:solidFill>
                  <a:srgbClr val="222B38"/>
                </a:solidFill>
                <a:latin typeface="Calibri"/>
              </a:rPr>
              <a:t>100 % even at 6 m/s (never trained) and 2× detector noise, where PID drops to 0 %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A6A6A6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Vision: which ground is safe to land on?</a:t>
            </a:r>
          </a:p>
        </p:txBody>
      </p:sp>
      <p:pic>
        <p:nvPicPr>
          <p:cNvPr id="4" name="Picture 3" descr="fig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343" y="1188719"/>
            <a:ext cx="4058432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128016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27F1B"/>
                </a:solidFill>
                <a:latin typeface="Cambria"/>
              </a:rPr>
              <a:t>0.92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2029967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mean IoU on unseen towns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0" y="128016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27F1B"/>
                </a:solidFill>
                <a:latin typeface="Cambria"/>
              </a:rPr>
              <a:t>0.83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0" y="2029967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landable-class IoU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74320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27F1B"/>
                </a:solidFill>
                <a:latin typeface="Cambria"/>
              </a:rPr>
              <a:t>0.48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493008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U-Net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743200"/>
            <a:ext cx="23774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27F1B"/>
                </a:solidFill>
                <a:latin typeface="Cambria"/>
              </a:rPr>
              <a:t>≈ 4 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3493008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per frame on CPU in 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29768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13,750 synthetic images, labels free by re-rendering in flat class colours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Projected to the ground with the camera pose and fused into a shared 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A6A6A6"/>
                </a:solidFill>
                <a:latin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Mission: explore, pick a spot, land, relay</a:t>
            </a:r>
          </a:p>
        </p:txBody>
      </p:sp>
      <p:pic>
        <p:nvPicPr>
          <p:cNvPr id="4" name="Picture 3" descr="fig_mission_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949" y="1188720"/>
            <a:ext cx="8999621" cy="3108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452628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617720"/>
            <a:ext cx="32004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27F1B"/>
                </a:solidFill>
                <a:latin typeface="Calibri"/>
              </a:rPr>
              <a:t>Explore rule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8"/>
                </a:solidFill>
                <a:latin typeface="Calibri"/>
              </a:rPr>
              <a:t>go to the frontier closest to the camp whose predicted signal is still ≥ −74 dBm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452628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4617720"/>
            <a:ext cx="32004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27F1B"/>
                </a:solidFill>
                <a:latin typeface="Calibri"/>
              </a:rPr>
              <a:t>Spot rule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8"/>
                </a:solidFill>
                <a:latin typeface="Calibri"/>
              </a:rPr>
              <a:t>landable spot furthest toward the camp that still hears the parent at ≥ −71 dBm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19" y="4526280"/>
            <a:ext cx="3566160" cy="17373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9" y="4617720"/>
            <a:ext cx="320040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F27F1B"/>
                </a:solidFill>
                <a:latin typeface="Calibri"/>
              </a:rPr>
              <a:t>Shared map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222B38"/>
                </a:solidFill>
                <a:latin typeface="Calibri"/>
              </a:rPr>
              <a:t>next drones reuse what earlier ones saw: exploration 52 s → 30 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A6A6A6"/>
                </a:solidFill>
                <a:latin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Results on 100 unseen towns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552"/>
            <a:ext cx="11094415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1">
                <a:solidFill>
                  <a:srgbClr val="5F6B7A"/>
                </a:solidFill>
                <a:latin typeface="Calibri"/>
              </a:rPr>
              <a:t>Level-2 towns, up to six drones, real U-Net in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F27F1B"/>
                </a:solidFill>
                <a:latin typeface="Cambria"/>
              </a:rPr>
              <a:t>45 %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04288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missions where the chain reaches the camp (51 % with perfect vision)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0040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F27F1B"/>
                </a:solidFill>
                <a:latin typeface="Cambria"/>
              </a:rPr>
              <a:t>+62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50208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average coverage extended toward the camp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27F1B"/>
                </a:solidFill>
                <a:latin typeface="Cambria"/>
              </a:rPr>
              <a:t>−72.5 dBm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96128"/>
            <a:ext cx="32918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F6B7A"/>
                </a:solidFill>
                <a:latin typeface="Calibri"/>
              </a:rPr>
              <a:t>weakest link of a chain (threshold −80)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389120" y="146304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A6A6A6"/>
                </a:solidFill>
                <a:latin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Live demo: six maps, 58/60 reliability</a:t>
            </a:r>
          </a:p>
        </p:txBody>
      </p:sp>
      <p:pic>
        <p:nvPicPr>
          <p:cNvPr id="4" name="Picture 3" descr="fig_demo_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717357"/>
            <a:ext cx="7223760" cy="40633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79" y="1371600"/>
            <a:ext cx="3840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b="1" sz="1500">
                <a:solidFill>
                  <a:srgbClr val="222B38"/>
                </a:solidFill>
                <a:latin typeface="Calibri"/>
              </a:rPr>
              <a:t>Z-route, U-turn, Staircase, </a:t>
            </a:r>
            <a:r>
              <a:rPr sz="1500">
                <a:solidFill>
                  <a:srgbClr val="222B38"/>
                </a:solidFill>
                <a:latin typeface="Calibri"/>
              </a:rPr>
              <a:t>Blocked boulevard + two unseen procedural towns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b="1" sz="1500">
                <a:solidFill>
                  <a:srgbClr val="222B38"/>
                </a:solidFill>
                <a:latin typeface="Calibri"/>
              </a:rPr>
              <a:t>Fixes from failure analysis: </a:t>
            </a:r>
            <a:r>
              <a:rPr sz="1500">
                <a:solidFill>
                  <a:srgbClr val="222B38"/>
                </a:solidFill>
                <a:latin typeface="Calibri"/>
              </a:rPr>
              <a:t>camera aimed at the goal, distance-weighted evidence, cautious radio prediction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b="1" sz="1500">
                <a:solidFill>
                  <a:srgbClr val="222B38"/>
                </a:solidFill>
                <a:latin typeface="Calibri"/>
              </a:rPr>
              <a:t>Reliability: </a:t>
            </a:r>
            <a:r>
              <a:rPr sz="1500">
                <a:solidFill>
                  <a:srgbClr val="222B38"/>
                </a:solidFill>
                <a:latin typeface="Calibri"/>
              </a:rPr>
              <a:t>34/60 → 58/60 runs over 10 seeds per map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b="1" sz="1500">
                <a:solidFill>
                  <a:srgbClr val="222B38"/>
                </a:solidFill>
                <a:latin typeface="Calibri"/>
              </a:rPr>
              <a:t>Run it: </a:t>
            </a:r>
            <a:r>
              <a:rPr sz="1500">
                <a:solidFill>
                  <a:srgbClr val="222B38"/>
                </a:solidFill>
                <a:latin typeface="Calibri"/>
              </a:rPr>
              <a:t>./demo  (keys 1–6, R, Space, V)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A6A6A6"/>
                </a:solidFill>
                <a:latin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14213D"/>
                </a:solidFill>
                <a:latin typeface="Cambria"/>
              </a:rPr>
              <a:t>Limitations and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94960" cy="49377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4213D"/>
                </a:solidFill>
                <a:latin typeface="Cambria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Simulation only; synthetic images and a signal-strength radio model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Trained on the fast model: 47 % → 30 % on the full quadrotor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Dense towns lack landing spots at corners (level 4: 2 %)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2.5-D flight at a fixed 5 m altitude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280160"/>
            <a:ext cx="5394960" cy="493776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27F1B"/>
                </a:solidFill>
                <a:latin typeface="Cambria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65960"/>
            <a:ext cx="50292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Fine-tune both policies on the full quadrotor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PX4 SITL in Gazebo, then Pixhawk + RV1103 hardware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Hover-relay fallback when no landing spot exists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27F1B"/>
                </a:solidFill>
                <a:latin typeface="Calibri"/>
              </a:rPr>
              <a:t>▸  </a:t>
            </a:r>
            <a:r>
              <a:rPr sz="1500">
                <a:solidFill>
                  <a:srgbClr val="222B38"/>
                </a:solidFill>
                <a:latin typeface="Calibri"/>
              </a:rPr>
              <a:t>Real aerial images to close the sim-to-real gap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 i="0">
                <a:solidFill>
                  <a:srgbClr val="5F6B7A"/>
                </a:solidFill>
                <a:latin typeface="Calibr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C9D3E3"/>
                </a:solidFill>
                <a:latin typeface="Calibri"/>
              </a:rPr>
              <a:t>Drones that land as relays, learned flight that handles the unknown, and vision that finds where to land — together they carry the network ≈ 62 m toward a disconnected camp.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27F1B"/>
                </a:solidFill>
                <a:latin typeface="Calibri"/>
              </a:rPr>
              <a:t>Questions? 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github.com/cosmosapien200/communication-drone-relay-sim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